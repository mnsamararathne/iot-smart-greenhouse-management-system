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6" r:id="rId6"/>
    <p:sldId id="277" r:id="rId7"/>
    <p:sldId id="278" r:id="rId8"/>
    <p:sldId id="279" r:id="rId9"/>
    <p:sldId id="260" r:id="rId10"/>
    <p:sldId id="261" r:id="rId11"/>
    <p:sldId id="262" r:id="rId12"/>
    <p:sldId id="263" r:id="rId13"/>
    <p:sldId id="280" r:id="rId14"/>
    <p:sldId id="264" r:id="rId15"/>
    <p:sldId id="265" r:id="rId16"/>
    <p:sldId id="266" r:id="rId17"/>
    <p:sldId id="281" r:id="rId18"/>
    <p:sldId id="267" r:id="rId19"/>
    <p:sldId id="282" r:id="rId20"/>
    <p:sldId id="268" r:id="rId21"/>
    <p:sldId id="283" r:id="rId22"/>
    <p:sldId id="269" r:id="rId23"/>
    <p:sldId id="284" r:id="rId24"/>
    <p:sldId id="270" r:id="rId25"/>
    <p:sldId id="271" r:id="rId26"/>
    <p:sldId id="272" r:id="rId27"/>
    <p:sldId id="273" r:id="rId28"/>
    <p:sldId id="274" r:id="rId29"/>
    <p:sldId id="27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90"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5/20/2020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Internet_of_thing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rduino.cc/en/Reference/HomePage" TargetMode="External"/><Relationship Id="rId7" Type="http://schemas.openxmlformats.org/officeDocument/2006/relationships/hyperlink" Target="https://www.arduino.cc/en/guide/introduction" TargetMode="External"/><Relationship Id="rId2" Type="http://schemas.openxmlformats.org/officeDocument/2006/relationships/hyperlink" Target="https://www.arduino.cc/en/Main/Products" TargetMode="External"/><Relationship Id="rId1" Type="http://schemas.openxmlformats.org/officeDocument/2006/relationships/slideLayout" Target="../slideLayouts/slideLayout2.xml"/><Relationship Id="rId6" Type="http://schemas.openxmlformats.org/officeDocument/2006/relationships/hyperlink" Target="https://processing.org/" TargetMode="External"/><Relationship Id="rId5" Type="http://schemas.openxmlformats.org/officeDocument/2006/relationships/hyperlink" Target="https://www.arduino.cc/en/Main/Software" TargetMode="External"/><Relationship Id="rId4" Type="http://schemas.openxmlformats.org/officeDocument/2006/relationships/hyperlink" Target="http://wiring.org.c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IoT</a:t>
            </a:r>
            <a:r>
              <a:rPr lang="en-US" dirty="0" smtClean="0"/>
              <a:t> Based Smart Greenhouse Management System</a:t>
            </a:r>
            <a:endParaRPr lang="en-US" dirty="0"/>
          </a:p>
        </p:txBody>
      </p:sp>
      <p:sp>
        <p:nvSpPr>
          <p:cNvPr id="3" name="Subtitle 2"/>
          <p:cNvSpPr>
            <a:spLocks noGrp="1"/>
          </p:cNvSpPr>
          <p:nvPr>
            <p:ph type="subTitle" idx="1"/>
          </p:nvPr>
        </p:nvSpPr>
        <p:spPr/>
        <p:txBody>
          <a:bodyPr/>
          <a:lstStyle/>
          <a:p>
            <a:r>
              <a:rPr lang="en-US" dirty="0" err="1" smtClean="0"/>
              <a:t>Manesh</a:t>
            </a:r>
            <a:r>
              <a:rPr lang="en-US" dirty="0" smtClean="0"/>
              <a:t> </a:t>
            </a:r>
            <a:r>
              <a:rPr lang="en-US" dirty="0" err="1" smtClean="0"/>
              <a:t>Nimsara</a:t>
            </a:r>
            <a:r>
              <a:rPr lang="en-US" dirty="0" smtClean="0"/>
              <a:t> </a:t>
            </a:r>
            <a:r>
              <a:rPr lang="en-US" dirty="0" err="1" smtClean="0"/>
              <a:t>Samararathne</a:t>
            </a:r>
            <a:endParaRPr lang="en-US" dirty="0"/>
          </a:p>
        </p:txBody>
      </p:sp>
    </p:spTree>
    <p:extLst>
      <p:ext uri="{BB962C8B-B14F-4D97-AF65-F5344CB8AC3E}">
        <p14:creationId xmlns:p14="http://schemas.microsoft.com/office/powerpoint/2010/main" val="3869270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the System </a:t>
            </a:r>
            <a:endParaRPr lang="en-US" dirty="0"/>
          </a:p>
        </p:txBody>
      </p:sp>
      <p:sp>
        <p:nvSpPr>
          <p:cNvPr id="3" name="Content Placeholder 2"/>
          <p:cNvSpPr>
            <a:spLocks noGrp="1"/>
          </p:cNvSpPr>
          <p:nvPr>
            <p:ph idx="1"/>
          </p:nvPr>
        </p:nvSpPr>
        <p:spPr>
          <a:xfrm>
            <a:off x="677334" y="1578279"/>
            <a:ext cx="8596668" cy="4463083"/>
          </a:xfrm>
        </p:spPr>
        <p:txBody>
          <a:bodyPr>
            <a:normAutofit fontScale="92500" lnSpcReduction="10000"/>
          </a:bodyPr>
          <a:lstStyle/>
          <a:p>
            <a:r>
              <a:rPr lang="en-US" dirty="0" smtClean="0"/>
              <a:t>The system is used to monitor the climate and tank level details of greenhouses and control the climate conditions in a  automatable manner.</a:t>
            </a:r>
          </a:p>
          <a:p>
            <a:endParaRPr lang="en-US" dirty="0" smtClean="0"/>
          </a:p>
          <a:p>
            <a:pPr>
              <a:spcBef>
                <a:spcPts val="0"/>
              </a:spcBef>
            </a:pPr>
            <a:r>
              <a:rPr lang="en-US" dirty="0" smtClean="0"/>
              <a:t>The system basically consists with a hardware system and a software system.</a:t>
            </a:r>
          </a:p>
          <a:p>
            <a:pPr marL="0" indent="0">
              <a:spcBef>
                <a:spcPts val="0"/>
              </a:spcBef>
              <a:buNone/>
            </a:pPr>
            <a:r>
              <a:rPr lang="en-US" dirty="0" smtClean="0"/>
              <a:t>     </a:t>
            </a:r>
            <a:r>
              <a:rPr lang="en-US" dirty="0"/>
              <a:t>A web application is designed as the software system</a:t>
            </a:r>
            <a:r>
              <a:rPr lang="en-US" dirty="0" smtClean="0"/>
              <a:t>.</a:t>
            </a:r>
          </a:p>
          <a:p>
            <a:pPr marL="0" indent="0">
              <a:spcBef>
                <a:spcPts val="0"/>
              </a:spcBef>
              <a:buNone/>
            </a:pPr>
            <a:endParaRPr lang="en-US" dirty="0"/>
          </a:p>
          <a:p>
            <a:r>
              <a:rPr lang="en-US" dirty="0" smtClean="0"/>
              <a:t>The hardware system consists with the sensors to monitor the soil moisture of greenhouse plants, lux level inside the greenhouse, temperature and humidity level inside the greenhouse, tank level of greenhouse and actuators such as fan motors, water pump motors and lights. The hardware system is power up using external power supplies</a:t>
            </a:r>
          </a:p>
          <a:p>
            <a:endParaRPr lang="en-US" dirty="0"/>
          </a:p>
          <a:p>
            <a:endParaRPr lang="en-US" dirty="0" smtClean="0"/>
          </a:p>
          <a:p>
            <a:pPr marL="0" indent="0">
              <a:buNone/>
            </a:pPr>
            <a:r>
              <a:rPr lang="en-US" dirty="0"/>
              <a:t> </a:t>
            </a:r>
            <a:r>
              <a:rPr lang="en-US" dirty="0" smtClean="0"/>
              <a:t>  </a:t>
            </a:r>
            <a:endParaRPr lang="en-US" dirty="0"/>
          </a:p>
          <a:p>
            <a:pPr marL="0" indent="0">
              <a:buNone/>
            </a:pPr>
            <a:r>
              <a:rPr lang="en-US" dirty="0" smtClean="0"/>
              <a:t> </a:t>
            </a:r>
            <a:endParaRPr lang="en-US" dirty="0"/>
          </a:p>
        </p:txBody>
      </p:sp>
    </p:spTree>
    <p:extLst>
      <p:ext uri="{BB962C8B-B14F-4D97-AF65-F5344CB8AC3E}">
        <p14:creationId xmlns:p14="http://schemas.microsoft.com/office/powerpoint/2010/main" val="4115658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the System </a:t>
            </a:r>
          </a:p>
        </p:txBody>
      </p:sp>
      <p:sp>
        <p:nvSpPr>
          <p:cNvPr id="3" name="Content Placeholder 2"/>
          <p:cNvSpPr>
            <a:spLocks noGrp="1"/>
          </p:cNvSpPr>
          <p:nvPr>
            <p:ph idx="1"/>
          </p:nvPr>
        </p:nvSpPr>
        <p:spPr>
          <a:xfrm>
            <a:off x="677334" y="1930401"/>
            <a:ext cx="8596668" cy="4110962"/>
          </a:xfrm>
        </p:spPr>
        <p:txBody>
          <a:bodyPr/>
          <a:lstStyle/>
          <a:p>
            <a:pPr algn="just"/>
            <a:r>
              <a:rPr lang="en-US" dirty="0" smtClean="0"/>
              <a:t>The web-based application is designed to monitor and analyze the greenhouse</a:t>
            </a:r>
          </a:p>
          <a:p>
            <a:pPr marL="0" indent="0" algn="just">
              <a:buNone/>
            </a:pPr>
            <a:r>
              <a:rPr lang="en-US" dirty="0"/>
              <a:t>Climate Conditions and tank level. In-built Communication platform is     designed in the web application to help the greenhouse owners to solve the   problems of greenhouse owners in a efficient way</a:t>
            </a:r>
            <a:r>
              <a:rPr lang="en-US" dirty="0" smtClean="0"/>
              <a:t>.</a:t>
            </a:r>
            <a:endParaRPr lang="en-US" dirty="0"/>
          </a:p>
          <a:p>
            <a:pPr marL="0" indent="0" algn="just">
              <a:buNone/>
            </a:pPr>
            <a:endParaRPr lang="en-US" dirty="0" smtClean="0"/>
          </a:p>
          <a:p>
            <a:pPr algn="just"/>
            <a:endParaRPr lang="en-US" dirty="0" smtClean="0"/>
          </a:p>
          <a:p>
            <a:pPr marL="0" indent="0" algn="just">
              <a:buNone/>
            </a:pPr>
            <a:r>
              <a:rPr lang="en-US" dirty="0" smtClean="0"/>
              <a:t>    </a:t>
            </a:r>
            <a:endParaRPr lang="en-US" dirty="0"/>
          </a:p>
        </p:txBody>
      </p:sp>
    </p:spTree>
    <p:extLst>
      <p:ext uri="{BB962C8B-B14F-4D97-AF65-F5344CB8AC3E}">
        <p14:creationId xmlns:p14="http://schemas.microsoft.com/office/powerpoint/2010/main" val="49592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the hardware system</a:t>
            </a:r>
            <a:endParaRPr lang="en-US" dirty="0"/>
          </a:p>
        </p:txBody>
      </p:sp>
      <p:sp>
        <p:nvSpPr>
          <p:cNvPr id="3" name="Content Placeholder 2"/>
          <p:cNvSpPr>
            <a:spLocks noGrp="1"/>
          </p:cNvSpPr>
          <p:nvPr>
            <p:ph idx="1"/>
          </p:nvPr>
        </p:nvSpPr>
        <p:spPr>
          <a:xfrm>
            <a:off x="677334" y="2392471"/>
            <a:ext cx="8596668" cy="3648891"/>
          </a:xfrm>
        </p:spPr>
        <p:txBody>
          <a:bodyPr/>
          <a:lstStyle/>
          <a:p>
            <a:r>
              <a:rPr lang="en-US" dirty="0" smtClean="0"/>
              <a:t>The Implementation of </a:t>
            </a:r>
            <a:r>
              <a:rPr lang="en-US" dirty="0"/>
              <a:t>I</a:t>
            </a:r>
            <a:r>
              <a:rPr lang="en-US" dirty="0" smtClean="0"/>
              <a:t>nternet </a:t>
            </a:r>
            <a:r>
              <a:rPr lang="en-US" dirty="0"/>
              <a:t>O</a:t>
            </a:r>
            <a:r>
              <a:rPr lang="en-US" dirty="0" smtClean="0"/>
              <a:t>f Things Technology .</a:t>
            </a:r>
          </a:p>
          <a:p>
            <a:r>
              <a:rPr lang="en-US" dirty="0" smtClean="0"/>
              <a:t>“</a:t>
            </a:r>
            <a:r>
              <a:rPr lang="en-US" dirty="0" err="1" smtClean="0"/>
              <a:t>Arduino</a:t>
            </a:r>
            <a:r>
              <a:rPr lang="en-US" dirty="0" smtClean="0"/>
              <a:t>” -  electronic platform.</a:t>
            </a:r>
          </a:p>
          <a:p>
            <a:r>
              <a:rPr lang="en-US" dirty="0" smtClean="0"/>
              <a:t>Sensors and actuators used and functionalities of them.</a:t>
            </a:r>
          </a:p>
          <a:p>
            <a:r>
              <a:rPr lang="en-US" dirty="0" smtClean="0"/>
              <a:t>Electronic Modules and power supplies used and functionalities of them.</a:t>
            </a:r>
          </a:p>
          <a:p>
            <a:r>
              <a:rPr lang="en-US" dirty="0" smtClean="0"/>
              <a:t>Processes of hardware sub systems.</a:t>
            </a:r>
            <a:endParaRPr lang="en-US" dirty="0"/>
          </a:p>
        </p:txBody>
      </p:sp>
    </p:spTree>
    <p:extLst>
      <p:ext uri="{BB962C8B-B14F-4D97-AF65-F5344CB8AC3E}">
        <p14:creationId xmlns:p14="http://schemas.microsoft.com/office/powerpoint/2010/main" val="3508549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Requirements of the system</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260252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a:t>
            </a:r>
            <a:r>
              <a:rPr lang="en-US" dirty="0"/>
              <a:t>Requirements of the system</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3587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Aims of the project</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608199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the project</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64845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nternet </a:t>
            </a:r>
            <a:r>
              <a:rPr lang="en-US" dirty="0"/>
              <a:t>O</a:t>
            </a:r>
            <a:r>
              <a:rPr lang="en-US" dirty="0" smtClean="0"/>
              <a:t>f Things </a:t>
            </a:r>
            <a:endParaRPr lang="en-US" dirty="0"/>
          </a:p>
        </p:txBody>
      </p:sp>
      <p:sp>
        <p:nvSpPr>
          <p:cNvPr id="3" name="Content Placeholder 2"/>
          <p:cNvSpPr>
            <a:spLocks noGrp="1"/>
          </p:cNvSpPr>
          <p:nvPr>
            <p:ph idx="1"/>
          </p:nvPr>
        </p:nvSpPr>
        <p:spPr/>
        <p:txBody>
          <a:bodyPr/>
          <a:lstStyle/>
          <a:p>
            <a:r>
              <a:rPr lang="en-US" dirty="0"/>
              <a:t>The Internet of things (</a:t>
            </a:r>
            <a:r>
              <a:rPr lang="en-US" dirty="0" err="1"/>
              <a:t>IoT</a:t>
            </a:r>
            <a:r>
              <a:rPr lang="en-US" dirty="0"/>
              <a:t>) is a system of interrelated computing devices, mechanical and digital machines provided with unique identifiers (UIDs) and the ability to transfer data over a network without requiring human-to-human or human-to-computer interaction</a:t>
            </a:r>
            <a:r>
              <a:rPr lang="en-US" dirty="0" smtClean="0"/>
              <a:t>. (WIKIPEDIA, 2020)</a:t>
            </a:r>
          </a:p>
          <a:p>
            <a:endParaRPr lang="en-US" dirty="0" smtClean="0"/>
          </a:p>
          <a:p>
            <a:endParaRPr lang="en-US" dirty="0"/>
          </a:p>
          <a:p>
            <a:r>
              <a:rPr lang="en-US" dirty="0" smtClean="0"/>
              <a:t>WIKIPEDIA (2020) “</a:t>
            </a:r>
            <a:r>
              <a:rPr lang="en-US" dirty="0"/>
              <a:t>Internet of </a:t>
            </a:r>
            <a:r>
              <a:rPr lang="en-US" dirty="0" smtClean="0"/>
              <a:t>things” Available at:</a:t>
            </a:r>
          </a:p>
          <a:p>
            <a:pPr marL="0" indent="0">
              <a:buNone/>
            </a:pPr>
            <a:r>
              <a:rPr lang="en-US" dirty="0" smtClean="0"/>
              <a:t>     </a:t>
            </a:r>
            <a:r>
              <a:rPr lang="en-US" dirty="0">
                <a:hlinkClick r:id="rId2"/>
              </a:rPr>
              <a:t>https://</a:t>
            </a:r>
            <a:r>
              <a:rPr lang="en-US" dirty="0" smtClean="0">
                <a:hlinkClick r:id="rId2"/>
              </a:rPr>
              <a:t>en.wikipedia.org/wiki/Internet_of_things</a:t>
            </a:r>
            <a:endParaRPr lang="en-US" dirty="0" smtClean="0"/>
          </a:p>
          <a:p>
            <a:pPr marL="0" indent="0">
              <a:buNone/>
            </a:pPr>
            <a:r>
              <a:rPr lang="en-US" dirty="0"/>
              <a:t> </a:t>
            </a:r>
            <a:r>
              <a:rPr lang="en-US" dirty="0" smtClean="0"/>
              <a:t>    Accessed at: 19</a:t>
            </a:r>
            <a:r>
              <a:rPr lang="en-US" baseline="30000" dirty="0" smtClean="0"/>
              <a:t>th</a:t>
            </a:r>
            <a:r>
              <a:rPr lang="en-US" dirty="0" smtClean="0"/>
              <a:t> May 2020.</a:t>
            </a:r>
          </a:p>
        </p:txBody>
      </p:sp>
    </p:spTree>
    <p:extLst>
      <p:ext uri="{BB962C8B-B14F-4D97-AF65-F5344CB8AC3E}">
        <p14:creationId xmlns:p14="http://schemas.microsoft.com/office/powerpoint/2010/main" val="1263029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the </a:t>
            </a:r>
            <a:r>
              <a:rPr lang="en-US" dirty="0" err="1" smtClean="0"/>
              <a:t>IoT</a:t>
            </a:r>
            <a:r>
              <a:rPr lang="en-US" dirty="0" smtClean="0"/>
              <a:t> concept to the system.</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377830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Arduino</a:t>
            </a:r>
            <a:r>
              <a:rPr lang="en-US" dirty="0"/>
              <a:t>” -  electronic platform</a:t>
            </a:r>
          </a:p>
        </p:txBody>
      </p:sp>
      <p:sp>
        <p:nvSpPr>
          <p:cNvPr id="3" name="Content Placeholder 2"/>
          <p:cNvSpPr>
            <a:spLocks noGrp="1"/>
          </p:cNvSpPr>
          <p:nvPr>
            <p:ph idx="1"/>
          </p:nvPr>
        </p:nvSpPr>
        <p:spPr/>
        <p:txBody>
          <a:bodyPr>
            <a:normAutofit lnSpcReduction="10000"/>
          </a:bodyPr>
          <a:lstStyle/>
          <a:p>
            <a:r>
              <a:rPr lang="en-US" dirty="0" err="1"/>
              <a:t>Arduino</a:t>
            </a:r>
            <a:r>
              <a:rPr lang="en-US" dirty="0"/>
              <a:t> is an open-source electronics platform based on easy-to-use hardware and software. </a:t>
            </a:r>
            <a:r>
              <a:rPr lang="en-US" dirty="0" err="1">
                <a:hlinkClick r:id="rId2"/>
              </a:rPr>
              <a:t>Arduino</a:t>
            </a:r>
            <a:r>
              <a:rPr lang="en-US" dirty="0">
                <a:hlinkClick r:id="rId2"/>
              </a:rPr>
              <a:t> boards</a:t>
            </a:r>
            <a:r>
              <a:rPr lang="en-US" dirty="0"/>
              <a:t> are able to read inputs - light on a sensor, a finger on a button, or a Twitter message - and turn it into an output - activating a motor, turning on an LED, publishing something online. You can tell your board what to do by sending a set of instructions to the microcontroller on the board. To do so you use the </a:t>
            </a:r>
            <a:r>
              <a:rPr lang="en-US" dirty="0" err="1">
                <a:hlinkClick r:id="rId3"/>
              </a:rPr>
              <a:t>Arduino</a:t>
            </a:r>
            <a:r>
              <a:rPr lang="en-US" dirty="0">
                <a:hlinkClick r:id="rId3"/>
              </a:rPr>
              <a:t> programming language</a:t>
            </a:r>
            <a:r>
              <a:rPr lang="en-US" dirty="0"/>
              <a:t> (based on </a:t>
            </a:r>
            <a:r>
              <a:rPr lang="en-US" dirty="0">
                <a:hlinkClick r:id="rId4"/>
              </a:rPr>
              <a:t>Wiring</a:t>
            </a:r>
            <a:r>
              <a:rPr lang="en-US" dirty="0"/>
              <a:t>), and </a:t>
            </a:r>
            <a:r>
              <a:rPr lang="en-US" dirty="0">
                <a:hlinkClick r:id="rId5"/>
              </a:rPr>
              <a:t>the </a:t>
            </a:r>
            <a:r>
              <a:rPr lang="en-US" dirty="0" err="1">
                <a:hlinkClick r:id="rId5"/>
              </a:rPr>
              <a:t>Arduino</a:t>
            </a:r>
            <a:r>
              <a:rPr lang="en-US" dirty="0">
                <a:hlinkClick r:id="rId5"/>
              </a:rPr>
              <a:t> Software (IDE)</a:t>
            </a:r>
            <a:r>
              <a:rPr lang="en-US" dirty="0"/>
              <a:t>, based on </a:t>
            </a:r>
            <a:r>
              <a:rPr lang="en-US" dirty="0">
                <a:hlinkClick r:id="rId6"/>
              </a:rPr>
              <a:t>Processing</a:t>
            </a:r>
            <a:r>
              <a:rPr lang="en-US" dirty="0" smtClean="0"/>
              <a:t>. (ARDUINO,2020)</a:t>
            </a:r>
          </a:p>
          <a:p>
            <a:endParaRPr lang="en-US" dirty="0"/>
          </a:p>
          <a:p>
            <a:r>
              <a:rPr lang="en-US" dirty="0" smtClean="0"/>
              <a:t>ARDUINO (2020) “</a:t>
            </a:r>
            <a:r>
              <a:rPr lang="en-US" dirty="0"/>
              <a:t>What is </a:t>
            </a:r>
            <a:r>
              <a:rPr lang="en-US" dirty="0" err="1"/>
              <a:t>Arduino</a:t>
            </a:r>
            <a:r>
              <a:rPr lang="en-US" dirty="0" smtClean="0"/>
              <a:t>?” available at:</a:t>
            </a:r>
          </a:p>
          <a:p>
            <a:pPr marL="0" indent="0">
              <a:buNone/>
            </a:pPr>
            <a:r>
              <a:rPr lang="en-US" dirty="0"/>
              <a:t> </a:t>
            </a:r>
            <a:r>
              <a:rPr lang="en-US" dirty="0" smtClean="0"/>
              <a:t>    </a:t>
            </a:r>
            <a:r>
              <a:rPr lang="en-US" dirty="0">
                <a:hlinkClick r:id="rId7"/>
              </a:rPr>
              <a:t>https://</a:t>
            </a:r>
            <a:r>
              <a:rPr lang="en-US" dirty="0" smtClean="0">
                <a:hlinkClick r:id="rId7"/>
              </a:rPr>
              <a:t>www.arduino.cc/en/guide/introduction</a:t>
            </a:r>
            <a:endParaRPr lang="en-US" dirty="0" smtClean="0"/>
          </a:p>
          <a:p>
            <a:pPr marL="0" indent="0">
              <a:buNone/>
            </a:pPr>
            <a:r>
              <a:rPr lang="en-US" dirty="0"/>
              <a:t> </a:t>
            </a:r>
            <a:r>
              <a:rPr lang="en-US" dirty="0" smtClean="0"/>
              <a:t>    Accessed at: 19</a:t>
            </a:r>
            <a:r>
              <a:rPr lang="en-US" baseline="30000" dirty="0" smtClean="0"/>
              <a:t>th</a:t>
            </a:r>
            <a:r>
              <a:rPr lang="en-US" dirty="0" smtClean="0"/>
              <a:t> May 2020.</a:t>
            </a:r>
            <a:endParaRPr lang="en-US" dirty="0"/>
          </a:p>
        </p:txBody>
      </p:sp>
    </p:spTree>
    <p:extLst>
      <p:ext uri="{BB962C8B-B14F-4D97-AF65-F5344CB8AC3E}">
        <p14:creationId xmlns:p14="http://schemas.microsoft.com/office/powerpoint/2010/main" val="2536902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Sensors and </a:t>
            </a:r>
            <a:r>
              <a:rPr lang="en-US" dirty="0" smtClean="0"/>
              <a:t>actuators used in the system</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78281353"/>
              </p:ext>
            </p:extLst>
          </p:nvPr>
        </p:nvGraphicFramePr>
        <p:xfrm>
          <a:off x="677863" y="2160588"/>
          <a:ext cx="8596312" cy="2931160"/>
        </p:xfrm>
        <a:graphic>
          <a:graphicData uri="http://schemas.openxmlformats.org/drawingml/2006/table">
            <a:tbl>
              <a:tblPr firstRow="1" bandRow="1">
                <a:tableStyleId>{5C22544A-7EE6-4342-B048-85BDC9FD1C3A}</a:tableStyleId>
              </a:tblPr>
              <a:tblGrid>
                <a:gridCol w="4298156"/>
                <a:gridCol w="4298156"/>
              </a:tblGrid>
              <a:tr h="370840">
                <a:tc>
                  <a:txBody>
                    <a:bodyPr/>
                    <a:lstStyle/>
                    <a:p>
                      <a:r>
                        <a:rPr lang="en-US" dirty="0" smtClean="0"/>
                        <a:t>Sensors</a:t>
                      </a:r>
                      <a:endParaRPr lang="en-US" dirty="0"/>
                    </a:p>
                  </a:txBody>
                  <a:tcPr/>
                </a:tc>
                <a:tc>
                  <a:txBody>
                    <a:bodyPr/>
                    <a:lstStyle/>
                    <a:p>
                      <a:r>
                        <a:rPr lang="en-US" dirty="0" smtClean="0"/>
                        <a:t>Functionalities</a:t>
                      </a:r>
                      <a:endParaRPr lang="en-US" dirty="0"/>
                    </a:p>
                  </a:txBody>
                  <a:tcPr/>
                </a:tc>
              </a:tr>
              <a:tr h="370840">
                <a:tc>
                  <a:txBody>
                    <a:bodyPr/>
                    <a:lstStyle/>
                    <a:p>
                      <a:r>
                        <a:rPr lang="en-US" dirty="0" smtClean="0"/>
                        <a:t>DHT 11 Temperature and Humidity</a:t>
                      </a:r>
                      <a:r>
                        <a:rPr lang="en-US" baseline="0" dirty="0" smtClean="0"/>
                        <a:t> sensor</a:t>
                      </a:r>
                      <a:endParaRPr lang="en-US" dirty="0"/>
                    </a:p>
                  </a:txBody>
                  <a:tcPr/>
                </a:tc>
                <a:tc>
                  <a:txBody>
                    <a:bodyPr/>
                    <a:lstStyle/>
                    <a:p>
                      <a:r>
                        <a:rPr lang="en-US" dirty="0" smtClean="0"/>
                        <a:t>Track the temperature and humidity level</a:t>
                      </a:r>
                      <a:r>
                        <a:rPr lang="en-US" baseline="0" dirty="0" smtClean="0"/>
                        <a:t> inside the greenhouse </a:t>
                      </a:r>
                      <a:endParaRPr lang="en-US" dirty="0"/>
                    </a:p>
                  </a:txBody>
                  <a:tcPr/>
                </a:tc>
              </a:tr>
              <a:tr h="370840">
                <a:tc>
                  <a:txBody>
                    <a:bodyPr/>
                    <a:lstStyle/>
                    <a:p>
                      <a:r>
                        <a:rPr lang="en-US" dirty="0" smtClean="0"/>
                        <a:t>F-28 Soil Moisture sensor</a:t>
                      </a:r>
                      <a:endParaRPr lang="en-US" dirty="0"/>
                    </a:p>
                  </a:txBody>
                  <a:tcPr/>
                </a:tc>
                <a:tc>
                  <a:txBody>
                    <a:bodyPr/>
                    <a:lstStyle/>
                    <a:p>
                      <a:r>
                        <a:rPr lang="en-US" dirty="0" smtClean="0"/>
                        <a:t>Track the soil moisture level of the plants inside the greenhouse</a:t>
                      </a:r>
                      <a:endParaRPr lang="en-US" dirty="0"/>
                    </a:p>
                  </a:txBody>
                  <a:tcPr/>
                </a:tc>
              </a:tr>
              <a:tr h="370840">
                <a:tc>
                  <a:txBody>
                    <a:bodyPr/>
                    <a:lstStyle/>
                    <a:p>
                      <a:r>
                        <a:rPr lang="en-US" dirty="0" smtClean="0"/>
                        <a:t>LDR</a:t>
                      </a:r>
                      <a:r>
                        <a:rPr lang="en-US" baseline="0" dirty="0" smtClean="0"/>
                        <a:t> Sensor</a:t>
                      </a:r>
                      <a:endParaRPr lang="en-US" dirty="0"/>
                    </a:p>
                  </a:txBody>
                  <a:tcPr/>
                </a:tc>
                <a:tc>
                  <a:txBody>
                    <a:bodyPr/>
                    <a:lstStyle/>
                    <a:p>
                      <a:r>
                        <a:rPr lang="en-US" dirty="0" smtClean="0"/>
                        <a:t>Track the LUX</a:t>
                      </a:r>
                      <a:r>
                        <a:rPr lang="en-US" baseline="0" dirty="0" smtClean="0"/>
                        <a:t> level inside the greenhouse</a:t>
                      </a:r>
                      <a:endParaRPr lang="en-US" dirty="0"/>
                    </a:p>
                  </a:txBody>
                  <a:tcPr/>
                </a:tc>
              </a:tr>
              <a:tr h="370840">
                <a:tc>
                  <a:txBody>
                    <a:bodyPr/>
                    <a:lstStyle/>
                    <a:p>
                      <a:r>
                        <a:rPr lang="en-US" dirty="0" smtClean="0"/>
                        <a:t>Ultrasonic Sensor</a:t>
                      </a:r>
                    </a:p>
                  </a:txBody>
                  <a:tcPr/>
                </a:tc>
                <a:tc>
                  <a:txBody>
                    <a:bodyPr/>
                    <a:lstStyle/>
                    <a:p>
                      <a:r>
                        <a:rPr lang="en-US" dirty="0" smtClean="0"/>
                        <a:t>Track the water level of the greenhouse water tank</a:t>
                      </a:r>
                      <a:endParaRPr lang="en-US" dirty="0"/>
                    </a:p>
                  </a:txBody>
                  <a:tcPr/>
                </a:tc>
              </a:tr>
            </a:tbl>
          </a:graphicData>
        </a:graphic>
      </p:graphicFrame>
    </p:spTree>
    <p:extLst>
      <p:ext uri="{BB962C8B-B14F-4D97-AF65-F5344CB8AC3E}">
        <p14:creationId xmlns:p14="http://schemas.microsoft.com/office/powerpoint/2010/main" val="144940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Sensors and actuators used in the system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64693270"/>
              </p:ext>
            </p:extLst>
          </p:nvPr>
        </p:nvGraphicFramePr>
        <p:xfrm>
          <a:off x="677863" y="2160588"/>
          <a:ext cx="8596312" cy="3210560"/>
        </p:xfrm>
        <a:graphic>
          <a:graphicData uri="http://schemas.openxmlformats.org/drawingml/2006/table">
            <a:tbl>
              <a:tblPr firstRow="1" bandRow="1">
                <a:tableStyleId>{5C22544A-7EE6-4342-B048-85BDC9FD1C3A}</a:tableStyleId>
              </a:tblPr>
              <a:tblGrid>
                <a:gridCol w="4298156"/>
                <a:gridCol w="4298156"/>
              </a:tblGrid>
              <a:tr h="370840">
                <a:tc>
                  <a:txBody>
                    <a:bodyPr/>
                    <a:lstStyle/>
                    <a:p>
                      <a:r>
                        <a:rPr lang="en-US" dirty="0" smtClean="0"/>
                        <a:t>Actuators</a:t>
                      </a:r>
                      <a:endParaRPr lang="en-US" dirty="0"/>
                    </a:p>
                  </a:txBody>
                  <a:tcPr/>
                </a:tc>
                <a:tc>
                  <a:txBody>
                    <a:bodyPr/>
                    <a:lstStyle/>
                    <a:p>
                      <a:r>
                        <a:rPr lang="en-US" dirty="0" smtClean="0"/>
                        <a:t>Functionality</a:t>
                      </a:r>
                      <a:endParaRPr lang="en-US" dirty="0"/>
                    </a:p>
                  </a:txBody>
                  <a:tcPr/>
                </a:tc>
              </a:tr>
              <a:tr h="370840">
                <a:tc>
                  <a:txBody>
                    <a:bodyPr/>
                    <a:lstStyle/>
                    <a:p>
                      <a:r>
                        <a:rPr lang="en-US" dirty="0" smtClean="0"/>
                        <a:t>Two DC</a:t>
                      </a:r>
                      <a:r>
                        <a:rPr lang="en-US" baseline="0" dirty="0" smtClean="0"/>
                        <a:t> Brushless fans</a:t>
                      </a:r>
                      <a:endParaRPr lang="en-US" dirty="0"/>
                    </a:p>
                  </a:txBody>
                  <a:tcPr/>
                </a:tc>
                <a:tc>
                  <a:txBody>
                    <a:bodyPr/>
                    <a:lstStyle/>
                    <a:p>
                      <a:r>
                        <a:rPr lang="en-US" dirty="0" smtClean="0"/>
                        <a:t>Stabilize</a:t>
                      </a:r>
                      <a:r>
                        <a:rPr lang="en-US" baseline="0" dirty="0" smtClean="0"/>
                        <a:t> the temperature level inside the greenhouse.</a:t>
                      </a:r>
                      <a:endParaRPr lang="en-US" dirty="0"/>
                    </a:p>
                  </a:txBody>
                  <a:tcPr/>
                </a:tc>
              </a:tr>
              <a:tr h="370840">
                <a:tc>
                  <a:txBody>
                    <a:bodyPr/>
                    <a:lstStyle/>
                    <a:p>
                      <a:r>
                        <a:rPr lang="en-US" dirty="0" smtClean="0"/>
                        <a:t> 16*2 LCD Display</a:t>
                      </a:r>
                      <a:endParaRPr lang="en-US" dirty="0"/>
                    </a:p>
                  </a:txBody>
                  <a:tcPr/>
                </a:tc>
                <a:tc>
                  <a:txBody>
                    <a:bodyPr/>
                    <a:lstStyle/>
                    <a:p>
                      <a:endParaRPr lang="en-US" dirty="0"/>
                    </a:p>
                  </a:txBody>
                  <a:tcPr/>
                </a:tc>
              </a:tr>
              <a:tr h="370840">
                <a:tc>
                  <a:txBody>
                    <a:bodyPr/>
                    <a:lstStyle/>
                    <a:p>
                      <a:r>
                        <a:rPr lang="en-US" dirty="0" smtClean="0"/>
                        <a:t>LED</a:t>
                      </a:r>
                      <a:r>
                        <a:rPr lang="en-US" baseline="0" dirty="0" smtClean="0"/>
                        <a:t> lights</a:t>
                      </a:r>
                      <a:endParaRPr lang="en-US" dirty="0"/>
                    </a:p>
                  </a:txBody>
                  <a:tcPr/>
                </a:tc>
                <a:tc>
                  <a:txBody>
                    <a:bodyPr/>
                    <a:lstStyle/>
                    <a:p>
                      <a:r>
                        <a:rPr lang="en-US" dirty="0" smtClean="0"/>
                        <a:t>Provide artificial</a:t>
                      </a:r>
                      <a:r>
                        <a:rPr lang="en-US" baseline="0" dirty="0" smtClean="0"/>
                        <a:t> lighting to the plant in low light level conditions.</a:t>
                      </a:r>
                      <a:endParaRPr lang="en-US" dirty="0"/>
                    </a:p>
                  </a:txBody>
                  <a:tcPr/>
                </a:tc>
              </a:tr>
              <a:tr h="370840">
                <a:tc>
                  <a:txBody>
                    <a:bodyPr/>
                    <a:lstStyle/>
                    <a:p>
                      <a:r>
                        <a:rPr lang="en-US" dirty="0" smtClean="0"/>
                        <a:t>Two Water pumps</a:t>
                      </a:r>
                      <a:endParaRPr lang="en-US" dirty="0"/>
                    </a:p>
                  </a:txBody>
                  <a:tcPr/>
                </a:tc>
                <a:tc>
                  <a:txBody>
                    <a:bodyPr/>
                    <a:lstStyle/>
                    <a:p>
                      <a:r>
                        <a:rPr lang="en-US" dirty="0" smtClean="0"/>
                        <a:t>Pump water from</a:t>
                      </a:r>
                      <a:r>
                        <a:rPr lang="en-US" baseline="0" dirty="0" smtClean="0"/>
                        <a:t> the resource water supply to the greenhouse water tank</a:t>
                      </a:r>
                    </a:p>
                    <a:p>
                      <a:r>
                        <a:rPr lang="en-US" baseline="0" dirty="0" smtClean="0"/>
                        <a:t>And from greenhouse water tank to plants.</a:t>
                      </a:r>
                      <a:endParaRPr lang="en-US" dirty="0"/>
                    </a:p>
                  </a:txBody>
                  <a:tcPr/>
                </a:tc>
              </a:tr>
            </a:tbl>
          </a:graphicData>
        </a:graphic>
      </p:graphicFrame>
    </p:spTree>
    <p:extLst>
      <p:ext uri="{BB962C8B-B14F-4D97-AF65-F5344CB8AC3E}">
        <p14:creationId xmlns:p14="http://schemas.microsoft.com/office/powerpoint/2010/main" val="1769662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 Modules and power </a:t>
            </a:r>
            <a:r>
              <a:rPr lang="en-US" dirty="0" smtClean="0"/>
              <a:t>supplies in the system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0354717"/>
              </p:ext>
            </p:extLst>
          </p:nvPr>
        </p:nvGraphicFramePr>
        <p:xfrm>
          <a:off x="677863" y="2160588"/>
          <a:ext cx="8596312" cy="1854200"/>
        </p:xfrm>
        <a:graphic>
          <a:graphicData uri="http://schemas.openxmlformats.org/drawingml/2006/table">
            <a:tbl>
              <a:tblPr firstRow="1" bandRow="1">
                <a:tableStyleId>{5C22544A-7EE6-4342-B048-85BDC9FD1C3A}</a:tableStyleId>
              </a:tblPr>
              <a:tblGrid>
                <a:gridCol w="4298156"/>
                <a:gridCol w="4298156"/>
              </a:tblGrid>
              <a:tr h="370840">
                <a:tc>
                  <a:txBody>
                    <a:bodyPr/>
                    <a:lstStyle/>
                    <a:p>
                      <a:r>
                        <a:rPr lang="en-US" dirty="0" smtClean="0"/>
                        <a:t>Electronic Module / Power supply</a:t>
                      </a:r>
                      <a:endParaRPr lang="en-US" dirty="0"/>
                    </a:p>
                  </a:txBody>
                  <a:tcPr/>
                </a:tc>
                <a:tc>
                  <a:txBody>
                    <a:bodyPr/>
                    <a:lstStyle/>
                    <a:p>
                      <a:r>
                        <a:rPr lang="en-US" dirty="0" smtClean="0"/>
                        <a:t>functionality</a:t>
                      </a:r>
                      <a:endParaRPr lang="en-US" dirty="0"/>
                    </a:p>
                  </a:txBody>
                  <a:tcPr/>
                </a:tc>
              </a:tr>
              <a:tr h="370840">
                <a:tc>
                  <a:txBody>
                    <a:bodyPr/>
                    <a:lstStyle/>
                    <a:p>
                      <a:r>
                        <a:rPr lang="en-US" dirty="0" smtClean="0"/>
                        <a:t>Four Channel Relay module</a:t>
                      </a:r>
                      <a:endParaRPr lang="en-US" dirty="0"/>
                    </a:p>
                  </a:txBody>
                  <a:tcPr/>
                </a:tc>
                <a:tc>
                  <a:txBody>
                    <a:bodyPr/>
                    <a:lstStyle/>
                    <a:p>
                      <a:endParaRPr lang="en-US" dirty="0"/>
                    </a:p>
                  </a:txBody>
                  <a:tcPr/>
                </a:tc>
              </a:tr>
              <a:tr h="370840">
                <a:tc>
                  <a:txBody>
                    <a:bodyPr/>
                    <a:lstStyle/>
                    <a:p>
                      <a:r>
                        <a:rPr lang="en-US" dirty="0" smtClean="0"/>
                        <a:t>12 AC</a:t>
                      </a:r>
                      <a:r>
                        <a:rPr lang="en-US" baseline="0" dirty="0" smtClean="0"/>
                        <a:t> to DC power supply</a:t>
                      </a:r>
                      <a:endParaRPr lang="en-US" dirty="0"/>
                    </a:p>
                  </a:txBody>
                  <a:tcPr/>
                </a:tc>
                <a:tc>
                  <a:txBody>
                    <a:bodyPr/>
                    <a:lstStyle/>
                    <a:p>
                      <a:endParaRPr lang="en-US"/>
                    </a:p>
                  </a:txBody>
                  <a:tcPr/>
                </a:tc>
              </a:tr>
              <a:tr h="370840">
                <a:tc>
                  <a:txBody>
                    <a:bodyPr/>
                    <a:lstStyle/>
                    <a:p>
                      <a:r>
                        <a:rPr lang="en-US" dirty="0" smtClean="0"/>
                        <a:t>I2C</a:t>
                      </a:r>
                      <a:r>
                        <a:rPr lang="en-US" baseline="0" dirty="0" smtClean="0"/>
                        <a:t> Convertor</a:t>
                      </a:r>
                      <a:endParaRPr lang="en-US" dirty="0"/>
                    </a:p>
                  </a:txBody>
                  <a:tcPr/>
                </a:tc>
                <a:tc>
                  <a:txBody>
                    <a:bodyPr/>
                    <a:lstStyle/>
                    <a:p>
                      <a:endParaRPr lang="en-US"/>
                    </a:p>
                  </a:txBody>
                  <a:tcPr/>
                </a:tc>
              </a:tr>
              <a:tr h="370840">
                <a:tc>
                  <a:txBody>
                    <a:bodyPr/>
                    <a:lstStyle/>
                    <a:p>
                      <a:endParaRPr lang="en-US" dirty="0"/>
                    </a:p>
                  </a:txBody>
                  <a:tcPr/>
                </a:tc>
                <a:tc>
                  <a:txBody>
                    <a:bodyPr/>
                    <a:lstStyle/>
                    <a:p>
                      <a:endParaRPr lang="en-US"/>
                    </a:p>
                  </a:txBody>
                  <a:tcPr/>
                </a:tc>
              </a:tr>
            </a:tbl>
          </a:graphicData>
        </a:graphic>
      </p:graphicFrame>
    </p:spTree>
    <p:extLst>
      <p:ext uri="{BB962C8B-B14F-4D97-AF65-F5344CB8AC3E}">
        <p14:creationId xmlns:p14="http://schemas.microsoft.com/office/powerpoint/2010/main" val="1837230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 hardware system in the main system</a:t>
            </a:r>
            <a:endParaRPr lang="en-US" dirty="0"/>
          </a:p>
        </p:txBody>
      </p:sp>
      <p:sp>
        <p:nvSpPr>
          <p:cNvPr id="3" name="Content Placeholder 2"/>
          <p:cNvSpPr>
            <a:spLocks noGrp="1"/>
          </p:cNvSpPr>
          <p:nvPr>
            <p:ph idx="1"/>
          </p:nvPr>
        </p:nvSpPr>
        <p:spPr/>
        <p:txBody>
          <a:bodyPr/>
          <a:lstStyle/>
          <a:p>
            <a:r>
              <a:rPr lang="en-US" dirty="0" smtClean="0"/>
              <a:t>Automated plant watering system.</a:t>
            </a:r>
          </a:p>
          <a:p>
            <a:r>
              <a:rPr lang="en-US" dirty="0" smtClean="0"/>
              <a:t>Automated Lighting system.</a:t>
            </a:r>
          </a:p>
          <a:p>
            <a:r>
              <a:rPr lang="en-US" dirty="0" smtClean="0"/>
              <a:t>Automated temperature controlling system.</a:t>
            </a:r>
          </a:p>
          <a:p>
            <a:r>
              <a:rPr lang="en-US" dirty="0" smtClean="0"/>
              <a:t>Automated tank water filling system.</a:t>
            </a:r>
            <a:endParaRPr lang="en-US" dirty="0"/>
          </a:p>
        </p:txBody>
      </p:sp>
    </p:spTree>
    <p:extLst>
      <p:ext uri="{BB962C8B-B14F-4D97-AF65-F5344CB8AC3E}">
        <p14:creationId xmlns:p14="http://schemas.microsoft.com/office/powerpoint/2010/main" val="21434989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plant watering system</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4137" y="1930400"/>
            <a:ext cx="7929865" cy="3861594"/>
          </a:xfrm>
        </p:spPr>
      </p:pic>
    </p:spTree>
    <p:extLst>
      <p:ext uri="{BB962C8B-B14F-4D97-AF65-F5344CB8AC3E}">
        <p14:creationId xmlns:p14="http://schemas.microsoft.com/office/powerpoint/2010/main" val="15948826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plant watering system</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5710686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Lighting </a:t>
            </a:r>
            <a:r>
              <a:rPr lang="en-US" dirty="0" smtClean="0"/>
              <a:t>system</a:t>
            </a:r>
            <a:br>
              <a:rPr lang="en-US" dirty="0" smtClean="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7468" y="1753645"/>
            <a:ext cx="6436399" cy="3885298"/>
          </a:xfrm>
        </p:spPr>
      </p:pic>
    </p:spTree>
    <p:extLst>
      <p:ext uri="{BB962C8B-B14F-4D97-AF65-F5344CB8AC3E}">
        <p14:creationId xmlns:p14="http://schemas.microsoft.com/office/powerpoint/2010/main" val="110826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Lighting system</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217040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temperature controlling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2958" y="1930400"/>
            <a:ext cx="7506081" cy="3989159"/>
          </a:xfrm>
        </p:spPr>
      </p:pic>
    </p:spTree>
    <p:extLst>
      <p:ext uri="{BB962C8B-B14F-4D97-AF65-F5344CB8AC3E}">
        <p14:creationId xmlns:p14="http://schemas.microsoft.com/office/powerpoint/2010/main" val="3804751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temperature controlling system</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469175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tank water filling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4961" y="1930400"/>
            <a:ext cx="5137136" cy="3887907"/>
          </a:xfrm>
        </p:spPr>
      </p:pic>
    </p:spTree>
    <p:extLst>
      <p:ext uri="{BB962C8B-B14F-4D97-AF65-F5344CB8AC3E}">
        <p14:creationId xmlns:p14="http://schemas.microsoft.com/office/powerpoint/2010/main" val="4109771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tank water filling system</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649021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the </a:t>
            </a:r>
            <a:r>
              <a:rPr lang="en-US" dirty="0" smtClean="0"/>
              <a:t>software </a:t>
            </a:r>
            <a:r>
              <a:rPr lang="en-US" dirty="0"/>
              <a:t>system</a:t>
            </a:r>
          </a:p>
        </p:txBody>
      </p:sp>
      <p:sp>
        <p:nvSpPr>
          <p:cNvPr id="3" name="Content Placeholder 2"/>
          <p:cNvSpPr>
            <a:spLocks noGrp="1"/>
          </p:cNvSpPr>
          <p:nvPr>
            <p:ph idx="1"/>
          </p:nvPr>
        </p:nvSpPr>
        <p:spPr>
          <a:xfrm>
            <a:off x="677334" y="1540701"/>
            <a:ext cx="8596668" cy="4500661"/>
          </a:xfrm>
        </p:spPr>
        <p:txBody>
          <a:bodyPr>
            <a:normAutofit fontScale="92500" lnSpcReduction="20000"/>
          </a:bodyPr>
          <a:lstStyle/>
          <a:p>
            <a:r>
              <a:rPr lang="en-US" dirty="0" smtClean="0"/>
              <a:t> Angular framework usage to the web application design.</a:t>
            </a:r>
          </a:p>
          <a:p>
            <a:r>
              <a:rPr lang="en-US" dirty="0" smtClean="0"/>
              <a:t>MySQL web service usage to the web application design. </a:t>
            </a:r>
          </a:p>
          <a:p>
            <a:r>
              <a:rPr lang="en-US" dirty="0" smtClean="0"/>
              <a:t>Sections of the web application</a:t>
            </a:r>
          </a:p>
          <a:p>
            <a:pPr lvl="2">
              <a:buFont typeface="Arial" panose="020B0604020202020204" pitchFamily="34" charset="0"/>
              <a:buChar char="•"/>
            </a:pPr>
            <a:r>
              <a:rPr lang="en-US" dirty="0" smtClean="0"/>
              <a:t>System Registration </a:t>
            </a:r>
          </a:p>
          <a:p>
            <a:pPr lvl="2">
              <a:buFont typeface="Arial" panose="020B0604020202020204" pitchFamily="34" charset="0"/>
              <a:buChar char="•"/>
            </a:pPr>
            <a:r>
              <a:rPr lang="en-US" dirty="0" smtClean="0"/>
              <a:t>System  Login</a:t>
            </a:r>
          </a:p>
          <a:p>
            <a:pPr lvl="2">
              <a:buFont typeface="Arial" panose="020B0604020202020204" pitchFamily="34" charset="0"/>
              <a:buChar char="•"/>
            </a:pPr>
            <a:r>
              <a:rPr lang="en-US" dirty="0" smtClean="0"/>
              <a:t>Chat platform</a:t>
            </a:r>
          </a:p>
          <a:p>
            <a:pPr lvl="2">
              <a:buFont typeface="Arial" panose="020B0604020202020204" pitchFamily="34" charset="0"/>
              <a:buChar char="•"/>
            </a:pPr>
            <a:r>
              <a:rPr lang="en-US" dirty="0" smtClean="0"/>
              <a:t>Agro-Instructor dashboard</a:t>
            </a:r>
          </a:p>
          <a:p>
            <a:pPr lvl="2">
              <a:buFont typeface="Arial" panose="020B0604020202020204" pitchFamily="34" charset="0"/>
              <a:buChar char="•"/>
            </a:pPr>
            <a:r>
              <a:rPr lang="en-US" dirty="0" smtClean="0"/>
              <a:t>Greenhouse Owner dashboard</a:t>
            </a:r>
          </a:p>
          <a:p>
            <a:pPr lvl="3">
              <a:buFont typeface="Wingdings" panose="05000000000000000000" pitchFamily="2" charset="2"/>
              <a:buChar char="q"/>
            </a:pPr>
            <a:r>
              <a:rPr lang="en-US" dirty="0" smtClean="0"/>
              <a:t>Sensor data dashboard</a:t>
            </a:r>
          </a:p>
          <a:p>
            <a:pPr lvl="3">
              <a:buFont typeface="Wingdings" panose="05000000000000000000" pitchFamily="2" charset="2"/>
              <a:buChar char="q"/>
            </a:pPr>
            <a:r>
              <a:rPr lang="en-US" dirty="0" smtClean="0"/>
              <a:t>Add greenhouse dashboard</a:t>
            </a:r>
          </a:p>
          <a:p>
            <a:pPr lvl="3">
              <a:buFont typeface="Wingdings" panose="05000000000000000000" pitchFamily="2" charset="2"/>
              <a:buChar char="q"/>
            </a:pPr>
            <a:r>
              <a:rPr lang="en-US" dirty="0" smtClean="0"/>
              <a:t>Analyzed data dashboard</a:t>
            </a:r>
          </a:p>
          <a:p>
            <a:pPr marL="1371600" lvl="3" indent="0">
              <a:buNone/>
            </a:pPr>
            <a:endParaRPr lang="en-US" dirty="0" smtClean="0"/>
          </a:p>
          <a:p>
            <a:pPr marL="857250" lvl="2" indent="0">
              <a:buNone/>
            </a:pPr>
            <a:endParaRPr lang="en-US" dirty="0" smtClean="0"/>
          </a:p>
          <a:p>
            <a:pPr lvl="2">
              <a:buFont typeface="Arial" panose="020B0604020202020204" pitchFamily="34" charset="0"/>
              <a:buChar char="•"/>
            </a:pP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671975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Angular framework</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795510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the </a:t>
            </a:r>
            <a:r>
              <a:rPr lang="en-US" dirty="0"/>
              <a:t>Angular </a:t>
            </a:r>
            <a:r>
              <a:rPr lang="en-US" dirty="0" smtClean="0"/>
              <a:t>framework to design the web application </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217979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MySQL Database service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89658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the </a:t>
            </a:r>
            <a:r>
              <a:rPr lang="en-US" dirty="0" smtClean="0"/>
              <a:t>MySQL Database service to </a:t>
            </a:r>
            <a:r>
              <a:rPr lang="en-US" dirty="0"/>
              <a:t>design the web application </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56384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4824511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740</TotalTime>
  <Words>617</Words>
  <Application>Microsoft Office PowerPoint</Application>
  <PresentationFormat>Widescreen</PresentationFormat>
  <Paragraphs>104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Trebuchet MS</vt:lpstr>
      <vt:lpstr>Wingdings</vt:lpstr>
      <vt:lpstr>Wingdings 3</vt:lpstr>
      <vt:lpstr>Facet</vt:lpstr>
      <vt:lpstr>IoT Based Smart Greenhouse Management System</vt:lpstr>
      <vt:lpstr>Introduction to the System </vt:lpstr>
      <vt:lpstr>Introduction to the System </vt:lpstr>
      <vt:lpstr>Overview of the hardware system</vt:lpstr>
      <vt:lpstr>Functional Requirements of the system</vt:lpstr>
      <vt:lpstr>Non-functional Requirements of the system</vt:lpstr>
      <vt:lpstr>Aims of the project</vt:lpstr>
      <vt:lpstr>Scope of the project</vt:lpstr>
      <vt:lpstr>Internet Of Things </vt:lpstr>
      <vt:lpstr>Application of the IoT concept to the system.</vt:lpstr>
      <vt:lpstr>“Arduino” -  electronic platform</vt:lpstr>
      <vt:lpstr>Sensors and actuators used in the system</vt:lpstr>
      <vt:lpstr>Sensors and actuators used in the system</vt:lpstr>
      <vt:lpstr>Electronic Modules and power supplies in the system </vt:lpstr>
      <vt:lpstr>Sub hardware system in the main system</vt:lpstr>
      <vt:lpstr>Automated plant watering system</vt:lpstr>
      <vt:lpstr>Automated plant watering system</vt:lpstr>
      <vt:lpstr>Automated Lighting system </vt:lpstr>
      <vt:lpstr>Automated Lighting system</vt:lpstr>
      <vt:lpstr>Automated temperature controlling system</vt:lpstr>
      <vt:lpstr>Automated temperature controlling system</vt:lpstr>
      <vt:lpstr>Automated tank water filling system</vt:lpstr>
      <vt:lpstr>Automated tank water filling system</vt:lpstr>
      <vt:lpstr>Overview of the software system</vt:lpstr>
      <vt:lpstr>Angular framework</vt:lpstr>
      <vt:lpstr>Application of the Angular framework to design the web application </vt:lpstr>
      <vt:lpstr>MySQL Database service</vt:lpstr>
      <vt:lpstr>Application of the MySQL Database service to design the web application </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Microsoft</cp:lastModifiedBy>
  <cp:revision>24</cp:revision>
  <dcterms:created xsi:type="dcterms:W3CDTF">2020-05-20T14:24:57Z</dcterms:created>
  <dcterms:modified xsi:type="dcterms:W3CDTF">2020-05-21T02:45:27Z</dcterms:modified>
</cp:coreProperties>
</file>